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76" r:id="rId5"/>
    <p:sldId id="258" r:id="rId6"/>
    <p:sldId id="269" r:id="rId7"/>
    <p:sldId id="261" r:id="rId8"/>
    <p:sldId id="277" r:id="rId9"/>
    <p:sldId id="268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314458-0350-4C8C-8EE0-AFFA38D7B1CA}" v="23" dt="2026-06-03T16:14:40.07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7352"/>
    <p:restoredTop sz="94672"/>
  </p:normalViewPr>
  <p:slideViewPr>
    <p:cSldViewPr>
      <p:cViewPr varScale="1">
        <p:scale>
          <a:sx n="68" d="100"/>
          <a:sy n="68" d="100"/>
        </p:scale>
        <p:origin x="-726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18029" y="461899"/>
            <a:ext cx="715594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509941"/>
            <a:ext cx="6337300" cy="1782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000" y="1643510"/>
            <a:ext cx="8813053" cy="99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DATA INDEPENDENCE Logical &amp; Physical Independence in DBMS Architecture </a:t>
            </a:r>
            <a:endParaRPr lang="en-IN" sz="3200" b="1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1603" y="3200400"/>
            <a:ext cx="9372600" cy="2192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b="1" spc="-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b="1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endParaRPr lang="en-US" sz="2200" b="1" spc="-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BAVANI SRI M(19211405)</a:t>
            </a:r>
            <a:endParaRPr lang="en-US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CSA0506-Database Management System 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12700" marR="5080" algn="ctr">
              <a:lnSpc>
                <a:spcPct val="100000"/>
              </a:lnSpc>
            </a:pPr>
            <a:r>
              <a:rPr sz="2400" b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Date</a:t>
            </a:r>
            <a:r>
              <a:rPr sz="24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sz="2400" b="1" spc="-1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spc="-1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21/07/2026</a:t>
            </a:r>
            <a:endParaRPr lang="en-US" sz="2400" b="1" spc="-1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2700" marR="5080" algn="ctr">
              <a:lnSpc>
                <a:spcPct val="100000"/>
              </a:lnSpc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100000"/>
              </a:lnSpc>
            </a:pPr>
            <a:r>
              <a:rPr lang="en-IN" sz="2400" dirty="0">
                <a:solidFill>
                  <a:srgbClr val="FF0000"/>
                </a:solidFill>
              </a:rPr>
              <a:t>Technical Presentation</a:t>
            </a:r>
            <a:endParaRPr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04800" y="465365"/>
            <a:ext cx="11277600" cy="9062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5800" y="1371600"/>
            <a:ext cx="4320158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" y="2286000"/>
            <a:ext cx="12115800" cy="389722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capacity to change the schema at one level of a database system without having to change the schema at the next higher level.</a:t>
            </a:r>
          </a:p>
          <a:p>
            <a:pPr marL="342900" indent="-342900">
              <a:lnSpc>
                <a:spcPct val="150000"/>
              </a:lnSpc>
            </a:pPr>
            <a:r>
              <a:rPr lang="en-US" sz="2400" b="1" dirty="0" smtClean="0"/>
              <a:t> Why It Matters ?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/>
              <a:t>I</a:t>
            </a:r>
            <a:r>
              <a:rPr lang="en-US" sz="2400" dirty="0" smtClean="0"/>
              <a:t>solates application programs from changes in data storage or structure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/>
              <a:t> Reduces maintenance cost when the database evolves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/>
              <a:t>2 Types of Data Independence: Logical &amp; Physical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81000" y="465365"/>
            <a:ext cx="11277600" cy="90623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286000"/>
            <a:ext cx="44566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/>
              <a:t>What Is Data Independence? </a:t>
            </a:r>
            <a:endParaRPr lang="en-US"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0" y="1600200"/>
            <a:ext cx="715594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Logical Data Independence</a:t>
            </a:r>
            <a:endParaRPr spc="-10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ADB8366-9679-8893-69F4-C736F9C3BF6E}"/>
              </a:ext>
            </a:extLst>
          </p:cNvPr>
          <p:cNvSpPr txBox="1"/>
          <p:nvPr/>
        </p:nvSpPr>
        <p:spPr>
          <a:xfrm>
            <a:off x="304800" y="2209800"/>
            <a:ext cx="85344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solidFill>
                  <a:schemeClr val="accent2">
                    <a:lumMod val="50000"/>
                  </a:schemeClr>
                </a:solidFill>
              </a:rPr>
              <a:t>Definition :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The ability to change the conceptual (logical) schema without altering external schemas or application programs. 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rgbClr val="FF0000"/>
                </a:solidFill>
              </a:rPr>
              <a:t>Example :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Adding a new column (e.g., "Email") to a Student table, or adding an entirely new table, does not require rewriting the existing application queries or reports that use the old schema.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 More Difficult to Achieve Because external views and application code are more tightly tied to the logical schema than to physical storage details.</a:t>
            </a:r>
            <a:endParaRPr lang="en-IN" sz="2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04800" y="465365"/>
            <a:ext cx="11506200" cy="906235"/>
          </a:xfrm>
          <a:prstGeom prst="rect">
            <a:avLst/>
          </a:prstGeom>
        </p:spPr>
      </p:pic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63000" y="2514600"/>
            <a:ext cx="29718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E3ED088-A078-E813-D1B2-B0C0779DD644}"/>
              </a:ext>
            </a:extLst>
          </p:cNvPr>
          <p:cNvSpPr txBox="1"/>
          <p:nvPr/>
        </p:nvSpPr>
        <p:spPr>
          <a:xfrm>
            <a:off x="2786070" y="1501914"/>
            <a:ext cx="7391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81000" y="465365"/>
            <a:ext cx="11277600" cy="90623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352800" y="1524000"/>
            <a:ext cx="45143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Physical Data Independence</a:t>
            </a:r>
            <a:endParaRPr lang="en-US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4800" y="2438400"/>
            <a:ext cx="8229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</a:rPr>
              <a:t>Definition </a:t>
            </a:r>
            <a:r>
              <a:rPr lang="en-US" sz="2400" b="1" dirty="0" smtClean="0"/>
              <a:t>: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The ability to change the internal (physical/storage) schema without altering the conceptual schema.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 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r>
              <a:rPr lang="en-US" sz="2000" dirty="0" smtClean="0">
                <a:solidFill>
                  <a:schemeClr val="accent6">
                    <a:lumMod val="75000"/>
                  </a:schemeClr>
                </a:solidFill>
              </a:rPr>
              <a:t> :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Switching a table's storage from a flat file to a B-tree index, or moving data to a different disk / server, does not affect how users or applications query the data.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 Easier to Achieve Because the conceptual schema hides low-level storage and access-path details from everything above it.</a:t>
            </a:r>
            <a:endParaRPr lang="en-US" sz="2000" dirty="0"/>
          </a:p>
        </p:txBody>
      </p:sp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34400" y="2514600"/>
            <a:ext cx="3514725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817931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371600"/>
            <a:ext cx="998220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0140" algn="ctr">
              <a:spcBef>
                <a:spcPts val="105"/>
              </a:spcBef>
            </a:pP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The 3-Level Architecture</a:t>
            </a:r>
            <a:endParaRPr sz="3600" b="1" spc="-1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52400" y="465365"/>
            <a:ext cx="11658600" cy="906235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981200"/>
            <a:ext cx="10820400" cy="4636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F11FCB8-5CA7-6998-9BB4-07955159131C}"/>
              </a:ext>
            </a:extLst>
          </p:cNvPr>
          <p:cNvSpPr txBox="1"/>
          <p:nvPr/>
        </p:nvSpPr>
        <p:spPr>
          <a:xfrm>
            <a:off x="1676400" y="1524000"/>
            <a:ext cx="9982200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Logical </a:t>
            </a:r>
            <a:r>
              <a:rPr lang="en-US" sz="2400" b="1" dirty="0" err="1" smtClean="0">
                <a:solidFill>
                  <a:schemeClr val="accent2">
                    <a:lumMod val="75000"/>
                  </a:schemeClr>
                </a:solidFill>
              </a:rPr>
              <a:t>vs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 Physical Comparison Table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81000" y="465365"/>
            <a:ext cx="10972800" cy="906235"/>
          </a:xfrm>
          <a:prstGeom prst="rect">
            <a:avLst/>
          </a:prstGeom>
        </p:spPr>
      </p:pic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2362200"/>
            <a:ext cx="112776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199021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600" y="1524000"/>
            <a:ext cx="7155941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0355" algn="ctr">
              <a:lnSpc>
                <a:spcPct val="100000"/>
              </a:lnSpc>
              <a:spcBef>
                <a:spcPts val="105"/>
              </a:spcBef>
            </a:pPr>
            <a:r>
              <a:rPr lang="en-US" sz="2800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Significance in DBMS Architecture</a:t>
            </a:r>
            <a:endParaRPr sz="2800" b="1" spc="-10" dirty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09600" y="465365"/>
            <a:ext cx="10591800" cy="90623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04800" y="2286000"/>
            <a:ext cx="11201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Flexibility Schemas can evolve to meet new requirements without breaking existing systems.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Maintainability Reduces cost and risk of maintaining applications as the database grows.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 Scalability Storage and structure can be optimized independently as data volume increases. 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2518029" y="8610598"/>
            <a:ext cx="7155941" cy="1524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981200"/>
            <a:ext cx="6337300" cy="984885"/>
          </a:xfrm>
        </p:spPr>
        <p:txBody>
          <a:bodyPr/>
          <a:lstStyle/>
          <a:p>
            <a:r>
              <a:rPr lang="en-US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Conclusion:</a:t>
            </a:r>
          </a:p>
          <a:p>
            <a:endParaRPr lang="en-US" b="1" dirty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85800" y="304800"/>
            <a:ext cx="10591800" cy="90623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971800"/>
            <a:ext cx="11887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 independence lets us change a schema at one level without affecting the level above it.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Logical independence protects applications from changes to the conceptual schema.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Physical independence protects the schema from changes in storage.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/>
              <a:t>This is what allows real systems, like banking applications, to evolve without disrupting the applications built on top of them.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5976" y="2667000"/>
            <a:ext cx="6235224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sz="80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You!</a:t>
            </a:r>
            <a:r>
              <a:rPr lang="en-US" sz="8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!!</a:t>
            </a:r>
            <a:endParaRPr sz="8000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xmlns="" id="{33DE70C5-CE14-BE97-84AD-341EBE21BA8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4" name="object 5">
            <a:extLst>
              <a:ext uri="{FF2B5EF4-FFF2-40B4-BE49-F238E27FC236}">
                <a16:creationId xmlns:a16="http://schemas.microsoft.com/office/drawing/2014/main" xmlns="" id="{8ED391EF-C997-121C-60E1-8D9C01EDEBA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924</TotalTime>
  <Words>373</Words>
  <Application>Microsoft Macintosh PowerPoint</Application>
  <PresentationFormat>Custom</PresentationFormat>
  <Paragraphs>40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DATA INDEPENDENCE Logical &amp; Physical Independence in DBMS Architecture </vt:lpstr>
      <vt:lpstr>Introduction</vt:lpstr>
      <vt:lpstr>Logical Data Independence</vt:lpstr>
      <vt:lpstr>Slide 4</vt:lpstr>
      <vt:lpstr>The 3-Level Architecture</vt:lpstr>
      <vt:lpstr>Slide 6</vt:lpstr>
      <vt:lpstr>Significance in DBMS Architecture</vt:lpstr>
      <vt:lpstr>Slide 8</vt:lpstr>
      <vt:lpstr>Thank You!!!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cp:lastModifiedBy>Windows User</cp:lastModifiedBy>
  <cp:revision>20</cp:revision>
  <dcterms:created xsi:type="dcterms:W3CDTF">2025-02-28T15:07:37Z</dcterms:created>
  <dcterms:modified xsi:type="dcterms:W3CDTF">2026-07-21T04:20:28Z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2025-02-28T00:00:00Z</vt:filetime>
  </property>
  <property fmtid="{D5CDD505-2E9C-101B-9397-08002B2CF9AE}" pid="5" name="Producer">
    <vt:lpwstr>Microsoft® PowerPoint® 2019</vt:lpwstr>
  </property>
</Properties>
</file>